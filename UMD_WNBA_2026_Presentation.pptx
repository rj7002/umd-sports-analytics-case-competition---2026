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11480" y="5074920"/>
            <a:ext cx="11777472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00584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2026 WNBA Draft &amp;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109728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90CAF9"/>
                </a:solidFill>
                <a:latin typeface="Calibri"/>
              </a:rPr>
              <a:t>Salary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6616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AAC4E8"/>
                </a:solidFill>
                <a:latin typeface="Calibri"/>
              </a:rPr>
              <a:t>Player Archetypes  ·  Draft Probability Model  ·  Salary Projections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6035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8B9E"/>
                </a:solidFill>
                <a:latin typeface="Calibri"/>
              </a:rPr>
              <a:t>UMD Sports Analytics Case Competition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8346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28346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Player Archetypes — cluster WNBA players into 5 roles using on-court stats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5204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520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CBA Salary Curve — convert old-CBA salaries to new 2026 CBA values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2062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Calibri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42062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Draft Model — predict which 2025-26 college seniors get drafted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9204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  <a:latin typeface="Calibri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4892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2026 Predictions — top prospects, archetype fit, and salary projections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01  Player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C4E8"/>
                </a:solidFill>
                <a:latin typeface="Calibri"/>
              </a:rPr>
              <a:t>Clustering the WNBA player pool into 5 distinct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Choosing the Number of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Elbow method + silhouette score both support k = 5</a:t>
            </a:r>
          </a:p>
        </p:txBody>
      </p:sp>
      <p:pic>
        <p:nvPicPr>
          <p:cNvPr id="5" name="Picture 4" descr="06_cluster_sel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WNBA Player Archetypes (PCA Visualization)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KMeans clustering on 15 shared stats — each dot is a WNBA player</a:t>
            </a:r>
          </a:p>
        </p:txBody>
      </p:sp>
      <p:pic>
        <p:nvPicPr>
          <p:cNvPr id="5" name="Picture 4" descr="01_archetype_clusters_pc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5 Archetypes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Defined on WNBA players; applied to NCAA prospects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34440"/>
            <a:ext cx="228600" cy="64008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35"/>
                </a:solidFill>
                <a:latin typeface="Calibri"/>
              </a:rPr>
              <a:t>Elite Two-Way Big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1848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8B9E"/>
                </a:solidFill>
                <a:latin typeface="Calibri"/>
              </a:rPr>
              <a:t>High PTS + BLK, dominant on both ends (Stewart, Collier, Howard)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80"/>
            <a:ext cx="228600" cy="640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35"/>
                </a:solidFill>
                <a:latin typeface="Calibri"/>
              </a:rPr>
              <a:t>High-Volume Wing/Guard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2432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8B9E"/>
                </a:solidFill>
                <a:latin typeface="Calibri"/>
              </a:rPr>
              <a:t>High usage, high scoring, perimeter-heavy (Mitchell, Ogunbowale, Loyd)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246120"/>
            <a:ext cx="228600" cy="6400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20040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35"/>
                </a:solidFill>
                <a:latin typeface="Calibri"/>
              </a:rPr>
              <a:t>Interior Specialist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63016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8B9E"/>
                </a:solidFill>
                <a:latin typeface="Calibri"/>
              </a:rPr>
              <a:t>Paint-focused, strong rebounding, low 3PA (Thomas, McCowan)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51960"/>
            <a:ext cx="228600" cy="640080"/>
          </a:xfrm>
          <a:prstGeom prst="rect">
            <a:avLst/>
          </a:prstGeom>
          <a:solidFill>
            <a:srgbClr val="9B5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35"/>
                </a:solidFill>
                <a:latin typeface="Calibri"/>
              </a:rPr>
              <a:t>Efficient Role Player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63600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8B9E"/>
                </a:solidFill>
                <a:latin typeface="Calibri"/>
              </a:rPr>
              <a:t>High TS%, controlled usage, complementary scorer (Hayes, Clark)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57800"/>
            <a:ext cx="228600" cy="640080"/>
          </a:xfrm>
          <a:prstGeom prst="rect">
            <a:avLst/>
          </a:prstGeom>
          <a:solidFill>
            <a:srgbClr val="457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212080"/>
            <a:ext cx="4114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21C35"/>
                </a:solidFill>
                <a:latin typeface="Calibri"/>
              </a:rPr>
              <a:t>Bench Guard/Wing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418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88B9E"/>
                </a:solidFill>
                <a:latin typeface="Calibri"/>
              </a:rPr>
              <a:t>Low minutes, reserve role, developing player (Wheeler, Powers)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2026 WNBA Salary by Archetype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Actual 2026 base salaries from the new CBA — High-Volume Wings earn the most</a:t>
            </a:r>
          </a:p>
        </p:txBody>
      </p:sp>
      <p:pic>
        <p:nvPicPr>
          <p:cNvPr id="5" name="Picture 4" descr="08_wnba_salary_by_arche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02  CBA Salary Curve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C4E8"/>
                </a:solidFill>
                <a:latin typeface="Calibri"/>
              </a:rPr>
              <a:t>Translating old-CBA contracts to new 2026 values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Old CBA → New CBA Salary Conversion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Power-law fit per signing type (UFA, Rookie, RFA, Core) — 14.8% median error</a:t>
            </a:r>
          </a:p>
        </p:txBody>
      </p:sp>
      <p:pic>
        <p:nvPicPr>
          <p:cNvPr id="5" name="Picture 4" descr="02_cba_salary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Projected New CBA Salary by Archetype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±15% band around median projection — Elite Two-Way Bigs projected highest</a:t>
            </a:r>
          </a:p>
        </p:txBody>
      </p:sp>
      <p:pic>
        <p:nvPicPr>
          <p:cNvPr id="5" name="Picture 4" descr="03_archetype_salary_ran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03  Draft Probability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C4E8"/>
                </a:solidFill>
                <a:latin typeface="Calibri"/>
              </a:rPr>
              <a:t>Predicting which 2025-26 NCAA seniors will be selected in the 2026 WNBA Draft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Challenge: Getting Drafted Is Extremely Rare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~1.9% of college seniors get drafted — a 25:1 class imbalance requiring special handling</a:t>
            </a:r>
          </a:p>
        </p:txBody>
      </p:sp>
      <p:pic>
        <p:nvPicPr>
          <p:cNvPr id="5" name="Picture 4" descr="draft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Separates Drafted from Undrafted Players?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Drafted players sit in the top percentiles across BPM, Win Shares, and schedule-adjusted metrics</a:t>
            </a:r>
          </a:p>
        </p:txBody>
      </p:sp>
      <p:pic>
        <p:nvPicPr>
          <p:cNvPr id="5" name="Picture 4" descr="stat_distribu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Feature Space: Drafted Players Cluster at the Top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BPM + Win Shares provide strong separation; SOS-adjusted BPM captures conference quality</a:t>
            </a:r>
          </a:p>
        </p:txBody>
      </p:sp>
      <p:pic>
        <p:nvPicPr>
          <p:cNvPr id="5" name="Picture 4" descr="scatter_plots_by_draf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Model: What Predicts Draft Selection?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Left: correlation with drafted label  ·  Right: XGBoost feature importance (gain)</a:t>
            </a:r>
          </a:p>
        </p:txBody>
      </p:sp>
      <p:pic>
        <p:nvPicPr>
          <p:cNvPr id="5" name="Picture 4" descr="top_corr_featu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051560"/>
            <a:ext cx="5852160" cy="5623560"/>
          </a:xfrm>
          <a:prstGeom prst="rect">
            <a:avLst/>
          </a:prstGeom>
        </p:spPr>
      </p:pic>
      <p:pic>
        <p:nvPicPr>
          <p:cNvPr id="6" name="Picture 5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051560"/>
            <a:ext cx="5852160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Model Architecture &amp;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Trained on 2024-25 seniors → applied to 2025-26 seniors for 2026 draft predictions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Ensemble of 3 models: XGBoost, LightGBM, Random Forest — average of all three probabilities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Class imbalance handled with scale_pos_weight (25:1 ratio) — prevents model from ignoring rare class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225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2257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5-fold cross-validation for reliable performance estimates with only 29 positive examples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95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9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Training: 2024-25 NCAA seniors labeled against 2025 WNBA draft picks (29 draftees / 753 total)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564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564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XGBoost: ROC AUC = 0.982  |  PR AUC = 0.693 — strong precision-recall on the minority class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All Three Models Agree on Top Prospects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High correlation between models (r &gt; 0.95) confirms predictions are robust, not model-specific</a:t>
            </a:r>
          </a:p>
        </p:txBody>
      </p:sp>
      <p:pic>
        <p:nvPicPr>
          <p:cNvPr id="5" name="Picture 4" descr="model_agreement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37744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alibri"/>
              </a:rPr>
              <a:t>04  2026 Predictions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3977639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AC4E8"/>
                </a:solidFill>
                <a:latin typeface="Calibri"/>
              </a:rPr>
              <a:t>Top prospects, archetype fit &amp; projected salaries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2025-26 NCAA Player Archetype Distribution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3,685 eligible players classified — Bench Guard/Wing is the largest group by far</a:t>
            </a:r>
          </a:p>
        </p:txBody>
      </p:sp>
      <p:pic>
        <p:nvPicPr>
          <p:cNvPr id="5" name="Picture 4" descr="04_ncaa_archetyp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2026 WNBA Draft Model — Top 25 Prospects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Ensemble probability averaged across XGBoost, LightGBM, and Random Forest</a:t>
            </a:r>
          </a:p>
        </p:txBody>
      </p:sp>
      <p:pic>
        <p:nvPicPr>
          <p:cNvPr id="5" name="Picture 4" descr="top_2026_prospects_from_ensem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Top Prospects per Archetype + Salary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Each player's projected new-CBA salary range based on their archetype and stats</a:t>
            </a:r>
          </a:p>
        </p:txBody>
      </p:sp>
      <p:pic>
        <p:nvPicPr>
          <p:cNvPr id="5" name="Picture 4" descr="05_top_prospects_by_archety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Player Lookup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Every 2025-26 senior gets an archetype, draft probability, and salary band — 3,672 players total</a:t>
            </a:r>
          </a:p>
        </p:txBody>
      </p:sp>
      <p:pic>
        <p:nvPicPr>
          <p:cNvPr id="5" name="Picture 4" descr="07_player_lookup_showc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051560"/>
            <a:ext cx="11914632" cy="56692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121C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713232"/>
            <a:ext cx="11521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C4E8"/>
                </a:solidFill>
                <a:latin typeface="Calibri"/>
              </a:rPr>
              <a:t>A complete framework: archetype → draft probability → salary projection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188720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5 distinct player archetypes exist in the WNBA — the model maps NCAA players into these same 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755648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The new CBA raises salaries substantially — especially for high-usage wings and elite two-way bigs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322576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22576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BPM, Win Shares, and schedule-adjusted metrics are the strongest predictors of draft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9504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89504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Lauren Betts, Tonie Morgan, Azzi Fudd, and Ta'Niya Latson are the model's top 2026 picks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56432"/>
            <a:ext cx="457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  <a:latin typeface="Calibri"/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4564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21C35"/>
                </a:solidFill>
                <a:latin typeface="Calibri"/>
              </a:rPr>
              <a:t>Every D-I senior has a salary projection — teams can use this for pre-draft roster planning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